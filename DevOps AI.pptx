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6E6F35-F33E-42F5-9EC1-4C1425EE786C}" v="1" dt="2026-05-19T13:28:46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C6F4E6-30A1-4F63-C8CC-028750B5A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6668" cy="4570886"/>
            <a:chOff x="0" y="0"/>
            <a:chExt cx="12196668" cy="457088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9EA7CA8-3AE6-4F5F-9932-63303CF2D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12196668" cy="457063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6E3E019-A259-1130-CC5C-3165020BC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791"/>
              <a:ext cx="10565988" cy="4568095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0769F99-CCA6-5CDC-D1E1-C59A4762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"/>
              <a:ext cx="12192000" cy="4549891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13E73D3-029B-3D4E-1956-8EE7068A6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10544" y="18215"/>
              <a:ext cx="8086124" cy="45498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31097DA-E26C-B8CA-7761-21FE181AB706}"/>
              </a:ext>
            </a:extLst>
          </p:cNvPr>
          <p:cNvSpPr txBox="1"/>
          <p:nvPr/>
        </p:nvSpPr>
        <p:spPr>
          <a:xfrm>
            <a:off x="211948" y="2418224"/>
            <a:ext cx="11980052" cy="171505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DevopsPilot</a:t>
            </a:r>
            <a:r>
              <a:rPr lang="en-US" sz="5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AI</a:t>
            </a:r>
            <a:r>
              <a:rPr lang="en-US" sz="5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with Model Driven App and Co-pilot Studio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4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B83B50F1-90FD-FC68-3144-558EB7AC2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582" y="5821296"/>
            <a:ext cx="3000375" cy="69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032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7175DF-CD00-3A91-4375-D517ED101407}"/>
              </a:ext>
            </a:extLst>
          </p:cNvPr>
          <p:cNvSpPr txBox="1"/>
          <p:nvPr/>
        </p:nvSpPr>
        <p:spPr>
          <a:xfrm>
            <a:off x="101902" y="109716"/>
            <a:ext cx="77924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ea typeface="+mn-lt"/>
                <a:cs typeface="+mn-lt"/>
              </a:rPr>
              <a:t>Devops</a:t>
            </a:r>
            <a:r>
              <a:rPr lang="en-US" sz="2000" b="1">
                <a:ea typeface="+mn-lt"/>
                <a:cs typeface="+mn-lt"/>
              </a:rPr>
              <a:t> Pilot AI with Model Driven App and Co-pilot Studio</a:t>
            </a:r>
            <a:endParaRPr lang="en-US" sz="20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E2E3C-608D-CF19-0BA6-E7D5C0A65975}"/>
              </a:ext>
            </a:extLst>
          </p:cNvPr>
          <p:cNvSpPr/>
          <p:nvPr/>
        </p:nvSpPr>
        <p:spPr>
          <a:xfrm>
            <a:off x="102896" y="545142"/>
            <a:ext cx="7554553" cy="2499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Business Challenges</a:t>
            </a:r>
            <a:endParaRPr lang="en-US" sz="2000" b="1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Tasks were scattered in Excel and chat, making  them easy to lose.</a:t>
            </a:r>
            <a:endParaRPr lang="en-US" sz="20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Team members didn't have a clear "step-by-step" path to follow.</a:t>
            </a:r>
            <a:endParaRPr lang="en-US" sz="20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Managers didn't get instant updates when work was finished.</a:t>
            </a:r>
            <a:endParaRPr lang="en-US" sz="20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It took too much time to get a Approval from managers via manual emails.</a:t>
            </a:r>
            <a:endParaRPr lang="en-US" sz="2000">
              <a:solidFill>
                <a:schemeClr val="bg1"/>
              </a:solidFill>
            </a:endParaRPr>
          </a:p>
          <a:p>
            <a:endParaRPr lang="en-US" sz="20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24A60B-87A4-67A6-1C18-F556B55A858E}"/>
              </a:ext>
            </a:extLst>
          </p:cNvPr>
          <p:cNvSpPr/>
          <p:nvPr/>
        </p:nvSpPr>
        <p:spPr>
          <a:xfrm>
            <a:off x="-692" y="3246410"/>
            <a:ext cx="5448838" cy="349002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b="1">
              <a:solidFill>
                <a:schemeClr val="tx1"/>
              </a:solidFill>
              <a:ea typeface="+mn-lt"/>
              <a:cs typeface="+mn-lt"/>
            </a:endParaRPr>
          </a:p>
          <a:p>
            <a:endParaRPr lang="en-US" b="1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Solution Architecture</a:t>
            </a:r>
            <a:endParaRPr lang="en-US" b="1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Created 4 organized tables to keep all data in one safe place.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BPF is a visual roadmap that guides users through fixed steps to ensure tasks are completed correctly and standardized.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Built a Power Automate flow that sends an automatic approval request to the manager. 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The system sends an instant email to the user when a task is approved or rejected.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Created visual charts to see all pending and completed work at a glance.</a:t>
            </a:r>
            <a:endParaRPr lang="en-US" dirty="0">
              <a:solidFill>
                <a:schemeClr val="tx1"/>
              </a:solidFill>
            </a:endParaRPr>
          </a:p>
          <a:p>
            <a:endParaRPr lang="en-US" b="1"/>
          </a:p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41197B-688B-1D59-B582-04B8E928A7EA}"/>
              </a:ext>
            </a:extLst>
          </p:cNvPr>
          <p:cNvSpPr/>
          <p:nvPr/>
        </p:nvSpPr>
        <p:spPr>
          <a:xfrm>
            <a:off x="7901282" y="108871"/>
            <a:ext cx="4056773" cy="30400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Benefits &amp; Features </a:t>
            </a:r>
          </a:p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Standardized Process: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 Everyone follows the same steps, reducing mistakes.</a:t>
            </a: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Faster Approvals: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 Managers can approve work with one click.</a:t>
            </a: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Instant Notifications: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 Real-time email alerts via Outlook.</a:t>
            </a: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Data Security: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 All information is stored securely in the Microsoft cloud.</a:t>
            </a: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Increased Visibility: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 Managers can track team performance using dashboards.</a:t>
            </a: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24/7 Access: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 The app works on Web, Tablet, and Mobile.</a:t>
            </a:r>
            <a:endParaRPr lang="en-US" sz="1400">
              <a:solidFill>
                <a:schemeClr val="tx1"/>
              </a:solidFill>
            </a:endParaRPr>
          </a:p>
          <a:p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ED8701-4DD9-EF49-81C7-69A56E83973A}"/>
              </a:ext>
            </a:extLst>
          </p:cNvPr>
          <p:cNvSpPr/>
          <p:nvPr/>
        </p:nvSpPr>
        <p:spPr>
          <a:xfrm>
            <a:off x="5864568" y="3241989"/>
            <a:ext cx="6194406" cy="32418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/>
              <a:t>Future Enhancement: AI &amp; Advanced Security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Copilot Agent:</a:t>
            </a:r>
            <a:r>
              <a:rPr lang="en-US">
                <a:ea typeface="+mn-lt"/>
                <a:cs typeface="+mn-lt"/>
              </a:rPr>
              <a:t> The AI Agent is fully built and ready to answer task queries; final integration is pending access permission.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Role-Based Access Control (RBAC):</a:t>
            </a:r>
            <a:endParaRPr lang="en-US"/>
          </a:p>
          <a:p>
            <a:pPr marL="628650" lvl="1" indent="-171450">
              <a:buFont typeface="Wingdings"/>
              <a:buChar char="§"/>
            </a:pPr>
            <a:r>
              <a:rPr lang="en-US" b="1">
                <a:ea typeface="+mn-lt"/>
                <a:cs typeface="+mn-lt"/>
              </a:rPr>
              <a:t>Manager Role:</a:t>
            </a:r>
            <a:r>
              <a:rPr lang="en-US">
                <a:ea typeface="+mn-lt"/>
                <a:cs typeface="+mn-lt"/>
              </a:rPr>
              <a:t> Full access to create projects, assign tasks to team members, and view all data.</a:t>
            </a:r>
            <a:endParaRPr lang="en-US"/>
          </a:p>
          <a:p>
            <a:pPr marL="628650" lvl="1" indent="-171450">
              <a:buFont typeface="Wingdings"/>
              <a:buChar char="§"/>
            </a:pPr>
            <a:r>
              <a:rPr lang="en-US" b="1">
                <a:ea typeface="+mn-lt"/>
                <a:cs typeface="+mn-lt"/>
              </a:rPr>
              <a:t>Employee Role:</a:t>
            </a:r>
            <a:r>
              <a:rPr lang="en-US">
                <a:ea typeface="+mn-lt"/>
                <a:cs typeface="+mn-lt"/>
              </a:rPr>
              <a:t> Restricted access where users can only view and update their own assigned tasks.</a:t>
            </a:r>
            <a:endParaRPr lang="en-US"/>
          </a:p>
          <a:p>
            <a:endParaRPr lang="en-US"/>
          </a:p>
        </p:txBody>
      </p:sp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5580D670-CA5C-8CD0-9E99-7543160CE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527" y="6486002"/>
            <a:ext cx="1620150" cy="36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B4112316-61AF-B772-CEEC-1FB739B28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8925" y="6155323"/>
            <a:ext cx="3000375" cy="69776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587F2D8-7E89-B842-9320-2FE5BF815625}"/>
              </a:ext>
            </a:extLst>
          </p:cNvPr>
          <p:cNvCxnSpPr/>
          <p:nvPr/>
        </p:nvCxnSpPr>
        <p:spPr>
          <a:xfrm flipV="1">
            <a:off x="560109" y="1852297"/>
            <a:ext cx="1024438" cy="41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431E79-002A-F6BC-BA45-9C979FD842A4}"/>
              </a:ext>
            </a:extLst>
          </p:cNvPr>
          <p:cNvCxnSpPr/>
          <p:nvPr/>
        </p:nvCxnSpPr>
        <p:spPr>
          <a:xfrm>
            <a:off x="567856" y="2924144"/>
            <a:ext cx="1336060" cy="765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A6515B-3336-7B7C-9B50-389D045012B2}"/>
              </a:ext>
            </a:extLst>
          </p:cNvPr>
          <p:cNvSpPr/>
          <p:nvPr/>
        </p:nvSpPr>
        <p:spPr>
          <a:xfrm>
            <a:off x="1726432" y="1563447"/>
            <a:ext cx="1581766" cy="4004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Manager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0EB499-65E0-957A-E135-98A90ACA6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193" y="882184"/>
            <a:ext cx="730369" cy="7016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39CFF8-9E60-1250-8574-AE8386C79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2081" y="2868124"/>
            <a:ext cx="615350" cy="6153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87AD3D-1A49-BD25-54A0-43C143AB50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2015" y="2991416"/>
            <a:ext cx="617480" cy="6166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8A2987A-D324-248D-44AD-BC6BEE88EF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0048" y="2867857"/>
            <a:ext cx="529086" cy="57221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006816E-D43E-7465-EC18-46B61C87713D}"/>
              </a:ext>
            </a:extLst>
          </p:cNvPr>
          <p:cNvSpPr/>
          <p:nvPr/>
        </p:nvSpPr>
        <p:spPr>
          <a:xfrm>
            <a:off x="3768592" y="1593927"/>
            <a:ext cx="1581766" cy="4004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Dashboard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28CA43-0EC5-6CA7-1E3D-428DC1856086}"/>
              </a:ext>
            </a:extLst>
          </p:cNvPr>
          <p:cNvSpPr/>
          <p:nvPr/>
        </p:nvSpPr>
        <p:spPr>
          <a:xfrm>
            <a:off x="7497312" y="1553287"/>
            <a:ext cx="2028806" cy="4004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Project Assign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4FB40C-AC67-367A-F53C-241E29D73E9C}"/>
              </a:ext>
            </a:extLst>
          </p:cNvPr>
          <p:cNvSpPr/>
          <p:nvPr/>
        </p:nvSpPr>
        <p:spPr>
          <a:xfrm>
            <a:off x="9966192" y="1549070"/>
            <a:ext cx="1481125" cy="4004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Task Assign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79728F7-3072-44E1-5761-312B37B7481B}"/>
              </a:ext>
            </a:extLst>
          </p:cNvPr>
          <p:cNvSpPr/>
          <p:nvPr/>
        </p:nvSpPr>
        <p:spPr>
          <a:xfrm>
            <a:off x="10382752" y="2538807"/>
            <a:ext cx="1805286" cy="349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Approve/Reject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B4D64C6-5026-B248-A22D-E175C1BA5762}"/>
              </a:ext>
            </a:extLst>
          </p:cNvPr>
          <p:cNvSpPr/>
          <p:nvPr/>
        </p:nvSpPr>
        <p:spPr>
          <a:xfrm>
            <a:off x="1939792" y="3483687"/>
            <a:ext cx="1581766" cy="4004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Employee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F2FD7C1-ED3F-3C33-4FE2-828CCBB263C7}"/>
              </a:ext>
            </a:extLst>
          </p:cNvPr>
          <p:cNvSpPr/>
          <p:nvPr/>
        </p:nvSpPr>
        <p:spPr>
          <a:xfrm>
            <a:off x="4007256" y="3483687"/>
            <a:ext cx="1581766" cy="4004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Task Details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8D47037-A012-6DDC-22FB-C077FFCE0FDD}"/>
              </a:ext>
            </a:extLst>
          </p:cNvPr>
          <p:cNvSpPr/>
          <p:nvPr/>
        </p:nvSpPr>
        <p:spPr>
          <a:xfrm>
            <a:off x="6073762" y="3477744"/>
            <a:ext cx="1754294" cy="4004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Work Updates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C9D7C6A-960D-02D8-3C96-204861FA161F}"/>
              </a:ext>
            </a:extLst>
          </p:cNvPr>
          <p:cNvCxnSpPr/>
          <p:nvPr/>
        </p:nvCxnSpPr>
        <p:spPr>
          <a:xfrm>
            <a:off x="3303492" y="1753674"/>
            <a:ext cx="474868" cy="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6F17853-F7D3-9FA9-C266-D10588C65CEF}"/>
              </a:ext>
            </a:extLst>
          </p:cNvPr>
          <p:cNvCxnSpPr>
            <a:cxnSpLocks/>
          </p:cNvCxnSpPr>
          <p:nvPr/>
        </p:nvCxnSpPr>
        <p:spPr>
          <a:xfrm>
            <a:off x="3525368" y="3678102"/>
            <a:ext cx="474869" cy="11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6AA986-9B30-E1EB-5394-56546CF222AE}"/>
              </a:ext>
            </a:extLst>
          </p:cNvPr>
          <p:cNvCxnSpPr>
            <a:cxnSpLocks/>
          </p:cNvCxnSpPr>
          <p:nvPr/>
        </p:nvCxnSpPr>
        <p:spPr>
          <a:xfrm>
            <a:off x="5595708" y="3692480"/>
            <a:ext cx="474869" cy="11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89AFFDA-DF60-7169-69FC-7335761D39AC}"/>
              </a:ext>
            </a:extLst>
          </p:cNvPr>
          <p:cNvCxnSpPr/>
          <p:nvPr/>
        </p:nvCxnSpPr>
        <p:spPr>
          <a:xfrm flipV="1">
            <a:off x="5350871" y="1788798"/>
            <a:ext cx="445278" cy="25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2B6937-CDA7-36C3-704B-4B8BB58DBD17}"/>
              </a:ext>
            </a:extLst>
          </p:cNvPr>
          <p:cNvCxnSpPr>
            <a:cxnSpLocks/>
          </p:cNvCxnSpPr>
          <p:nvPr/>
        </p:nvCxnSpPr>
        <p:spPr>
          <a:xfrm>
            <a:off x="7824198" y="3688262"/>
            <a:ext cx="586629" cy="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DD32280-7259-1F10-4E02-D0B1DCA46AB4}"/>
              </a:ext>
            </a:extLst>
          </p:cNvPr>
          <p:cNvSpPr/>
          <p:nvPr/>
        </p:nvSpPr>
        <p:spPr>
          <a:xfrm>
            <a:off x="5790432" y="1553287"/>
            <a:ext cx="1266806" cy="4410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User Role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ABE53B7-2EB3-F614-7223-76A8179AF828}"/>
              </a:ext>
            </a:extLst>
          </p:cNvPr>
          <p:cNvCxnSpPr>
            <a:cxnSpLocks/>
          </p:cNvCxnSpPr>
          <p:nvPr/>
        </p:nvCxnSpPr>
        <p:spPr>
          <a:xfrm>
            <a:off x="9530747" y="1753674"/>
            <a:ext cx="464571" cy="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DAC4A98-C0C5-A242-09CA-05927963CA28}"/>
              </a:ext>
            </a:extLst>
          </p:cNvPr>
          <p:cNvSpPr/>
          <p:nvPr/>
        </p:nvSpPr>
        <p:spPr>
          <a:xfrm>
            <a:off x="8426281" y="3479852"/>
            <a:ext cx="1947526" cy="4004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Approval Send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1340358-6B80-61F7-0913-46D5E11E6483}"/>
              </a:ext>
            </a:extLst>
          </p:cNvPr>
          <p:cNvCxnSpPr/>
          <p:nvPr/>
        </p:nvCxnSpPr>
        <p:spPr>
          <a:xfrm flipV="1">
            <a:off x="10334977" y="2887697"/>
            <a:ext cx="756355" cy="57403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455B9B10-FBBB-7ED8-653F-96500650B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1012" y="1499269"/>
            <a:ext cx="394919" cy="559173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F463769-CB59-796A-6480-ECBDDA4FF982}"/>
              </a:ext>
            </a:extLst>
          </p:cNvPr>
          <p:cNvCxnSpPr>
            <a:cxnSpLocks/>
          </p:cNvCxnSpPr>
          <p:nvPr/>
        </p:nvCxnSpPr>
        <p:spPr>
          <a:xfrm flipV="1">
            <a:off x="7057750" y="1717678"/>
            <a:ext cx="445278" cy="25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838D9C6-837B-3481-FBD8-3698AA0D1D08}"/>
              </a:ext>
            </a:extLst>
          </p:cNvPr>
          <p:cNvCxnSpPr>
            <a:cxnSpLocks/>
          </p:cNvCxnSpPr>
          <p:nvPr/>
        </p:nvCxnSpPr>
        <p:spPr>
          <a:xfrm>
            <a:off x="11448553" y="1776486"/>
            <a:ext cx="386686" cy="12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8D8B0442-3A53-7591-EE08-4BB7FE293E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4414" y="3463273"/>
            <a:ext cx="457200" cy="4572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01AD381-F0FB-8311-0647-35DBF37F9A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9" y="2158739"/>
            <a:ext cx="804781" cy="84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05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13</cp:revision>
  <dcterms:created xsi:type="dcterms:W3CDTF">2026-05-12T12:59:44Z</dcterms:created>
  <dcterms:modified xsi:type="dcterms:W3CDTF">2026-05-22T09:56:24Z</dcterms:modified>
</cp:coreProperties>
</file>